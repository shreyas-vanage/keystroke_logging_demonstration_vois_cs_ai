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3"/>
  </p:notesMasterIdLst>
  <p:handoutMasterIdLst>
    <p:handoutMasterId r:id="rId14"/>
  </p:handoutMasterIdLst>
  <p:sldIdLst>
    <p:sldId id="338" r:id="rId5"/>
    <p:sldId id="327" r:id="rId6"/>
    <p:sldId id="315" r:id="rId7"/>
    <p:sldId id="329" r:id="rId8"/>
    <p:sldId id="302" r:id="rId9"/>
    <p:sldId id="339" r:id="rId10"/>
    <p:sldId id="340" r:id="rId11"/>
    <p:sldId id="304"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67BBC5-90FB-0B4C-ED85-F72C7BA7CE4A}" v="1" dt="2022-06-06T12:10:26.221"/>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70" d="100"/>
          <a:sy n="70" d="100"/>
        </p:scale>
        <p:origin x="654" y="60"/>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12/28/2025</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12/28/2025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12/28/2025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12/28/2025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12/28/2025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12/28/2025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12/28/2025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12/28/2025</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12/28/2025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12/28/2025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12/28/2025</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Shreyas-Vanage/Keystroke_Logging_Demonstration_VOIS_CS_AI"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312871" y="4141999"/>
            <a:ext cx="3400089" cy="861497"/>
          </a:xfrm>
        </p:spPr>
        <p:txBody>
          <a:bodyPr>
            <a:normAutofit/>
          </a:bodyPr>
          <a:lstStyle/>
          <a:p>
            <a:pPr algn="r"/>
            <a:r>
              <a:rPr lang="en-US" sz="2400" b="0" dirty="0">
                <a:solidFill>
                  <a:schemeClr val="tx1"/>
                </a:solidFill>
              </a:rPr>
              <a:t>Shreyas Hiru Vanage</a:t>
            </a:r>
            <a:endParaRPr lang="en-IN" sz="2400"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5557520" y="2050553"/>
            <a:ext cx="4998720" cy="743448"/>
          </a:xfrm>
        </p:spPr>
        <p:txBody>
          <a:bodyPr>
            <a:normAutofit fontScale="90000"/>
          </a:bodyPr>
          <a:lstStyle/>
          <a:p>
            <a:r>
              <a:rPr lang="en-GB" sz="3200" dirty="0"/>
              <a:t>Project Title </a:t>
            </a:r>
            <a:r>
              <a:rPr lang="en-GB" sz="3200" b="1" dirty="0"/>
              <a:t>– Keystroke Logging Demonstration</a:t>
            </a:r>
            <a:endParaRPr lang="en-IN" sz="3200" b="1"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a:normAutofit fontScale="55000" lnSpcReduction="20000"/>
          </a:bodyPr>
          <a:lstStyle/>
          <a:p>
            <a:pPr>
              <a:lnSpc>
                <a:spcPct val="150000"/>
              </a:lnSpc>
            </a:pPr>
            <a:r>
              <a:rPr lang="en-US" sz="2800" dirty="0"/>
              <a:t>Keystroke logging is a common cyber security threat used to capture sensitive user input such as passwords and personal data. Understanding how this attack works is important for improving security awareness and defense mechanisms. However, implementing such techniques without proper control can raise ethical and legal concerns. This project addresses the need for a </a:t>
            </a:r>
            <a:r>
              <a:rPr lang="en-US" sz="2800" b="1" dirty="0"/>
              <a:t>consent-based, controlled keystroke logging system</a:t>
            </a:r>
            <a:r>
              <a:rPr lang="en-US" sz="2800" dirty="0"/>
              <a:t> that allows users to explicitly start and stop logging within an isolated environment, while securely storing data in text and JSON formats for educational analysis.</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4EB6FB1F-657F-6100-A9D4-4F11837F9FF2}"/>
              </a:ext>
            </a:extLst>
          </p:cNvPr>
          <p:cNvSpPr txBox="1"/>
          <p:nvPr/>
        </p:nvSpPr>
        <p:spPr>
          <a:xfrm>
            <a:off x="675957" y="1951630"/>
            <a:ext cx="6680186" cy="2585323"/>
          </a:xfrm>
          <a:prstGeom prst="rect">
            <a:avLst/>
          </a:prstGeom>
          <a:noFill/>
        </p:spPr>
        <p:txBody>
          <a:bodyPr wrap="square" rtlCol="0">
            <a:spAutoFit/>
          </a:bodyPr>
          <a:lstStyle/>
          <a:p>
            <a:r>
              <a:rPr lang="en-US" dirty="0"/>
              <a:t>This project implements a GUI-based, consent-driven keystroke logging demonstration for cyber security education. The system allows users to manually start and stop keystroke logging within a secure virtual environment, ensuring full transparency and ethical usage. Captured keystrokes are recorded only during authorized sessions and stored in text and JSON formats for analysis, helping users understand keystroke logging threats and related prevention techniques without performing any illegal or covert activities.</a:t>
            </a:r>
            <a:endParaRPr lang="en-IN"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3" name="Rectangle 1">
            <a:extLst>
              <a:ext uri="{FF2B5EF4-FFF2-40B4-BE49-F238E27FC236}">
                <a16:creationId xmlns:a16="http://schemas.microsoft.com/office/drawing/2014/main" id="{F3E2BBF3-D658-DFD1-C3BD-670B9409C94A}"/>
              </a:ext>
            </a:extLst>
          </p:cNvPr>
          <p:cNvSpPr>
            <a:spLocks noGrp="1" noChangeArrowheads="1"/>
          </p:cNvSpPr>
          <p:nvPr>
            <p:ph type="body" sz="quarter" idx="12"/>
          </p:nvPr>
        </p:nvSpPr>
        <p:spPr bwMode="auto">
          <a:xfrm>
            <a:off x="721359" y="2021271"/>
            <a:ext cx="4147289"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Arial" panose="020B0604020202020204" pitchFamily="34" charset="0"/>
              </a:rPr>
              <a:t>Cyber security students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Arial" panose="020B0604020202020204" pitchFamily="34" charset="0"/>
              </a:rPr>
              <a:t>Ethical hacking learners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Arial" panose="020B0604020202020204" pitchFamily="34" charset="0"/>
              </a:rPr>
              <a:t>Educational institutions and faculty</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Arial" panose="020B0604020202020204" pitchFamily="34" charset="0"/>
              </a:rPr>
              <a:t>Beginner-level security researchers</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
        <p:nvSpPr>
          <p:cNvPr id="3" name="Rectangle 1">
            <a:extLst>
              <a:ext uri="{FF2B5EF4-FFF2-40B4-BE49-F238E27FC236}">
                <a16:creationId xmlns:a16="http://schemas.microsoft.com/office/drawing/2014/main" id="{C2EDB5B2-2787-D29D-9B84-B9BD29896E05}"/>
              </a:ext>
            </a:extLst>
          </p:cNvPr>
          <p:cNvSpPr>
            <a:spLocks noGrp="1" noChangeArrowheads="1"/>
          </p:cNvSpPr>
          <p:nvPr>
            <p:ph type="body" sz="quarter" idx="12"/>
          </p:nvPr>
        </p:nvSpPr>
        <p:spPr bwMode="auto">
          <a:xfrm>
            <a:off x="660399" y="1560512"/>
            <a:ext cx="5925661"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1800" b="1" i="0" u="none" strike="noStrike" cap="none" normalizeH="0" baseline="0" dirty="0">
                <a:ln>
                  <a:noFill/>
                </a:ln>
                <a:solidFill>
                  <a:schemeClr val="tx1"/>
                </a:solidFill>
                <a:effectLst/>
                <a:latin typeface="Arial" panose="020B0604020202020204" pitchFamily="34" charset="0"/>
              </a:rPr>
              <a:t>Python</a:t>
            </a:r>
            <a:r>
              <a:rPr kumimoji="0" lang="en-US" altLang="en-US" sz="1800" b="0" i="0" u="none" strike="noStrike" cap="none" normalizeH="0" baseline="0" dirty="0">
                <a:ln>
                  <a:noFill/>
                </a:ln>
                <a:solidFill>
                  <a:schemeClr val="tx1"/>
                </a:solidFill>
                <a:effectLst/>
                <a:latin typeface="Arial" panose="020B0604020202020204" pitchFamily="34" charset="0"/>
              </a:rPr>
              <a:t> – Core programming language</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1800" b="1" i="0" u="none" strike="noStrike" cap="none" normalizeH="0" baseline="0" dirty="0" err="1">
                <a:ln>
                  <a:noFill/>
                </a:ln>
                <a:solidFill>
                  <a:schemeClr val="tx1"/>
                </a:solidFill>
                <a:effectLst/>
                <a:latin typeface="Arial" panose="020B0604020202020204" pitchFamily="34" charset="0"/>
              </a:rPr>
              <a:t>Tkinter</a:t>
            </a:r>
            <a:r>
              <a:rPr kumimoji="0" lang="en-US" altLang="en-US" sz="1800" b="0" i="0" u="none" strike="noStrike" cap="none" normalizeH="0" baseline="0" dirty="0">
                <a:ln>
                  <a:noFill/>
                </a:ln>
                <a:solidFill>
                  <a:schemeClr val="tx1"/>
                </a:solidFill>
                <a:effectLst/>
                <a:latin typeface="Arial" panose="020B0604020202020204" pitchFamily="34" charset="0"/>
              </a:rPr>
              <a:t> – GUI development</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1800" b="1" i="0" u="none" strike="noStrike" cap="none" normalizeH="0" baseline="0" dirty="0" err="1">
                <a:ln>
                  <a:noFill/>
                </a:ln>
                <a:solidFill>
                  <a:schemeClr val="tx1"/>
                </a:solidFill>
                <a:effectLst/>
                <a:latin typeface="Arial" panose="020B0604020202020204" pitchFamily="34" charset="0"/>
              </a:rPr>
              <a:t>pynput</a:t>
            </a:r>
            <a:r>
              <a:rPr kumimoji="0" lang="en-US" altLang="en-US" sz="1800" b="0" i="0" u="none" strike="noStrike" cap="none" normalizeH="0" baseline="0" dirty="0">
                <a:ln>
                  <a:noFill/>
                </a:ln>
                <a:solidFill>
                  <a:schemeClr val="tx1"/>
                </a:solidFill>
                <a:effectLst/>
                <a:latin typeface="Arial" panose="020B0604020202020204" pitchFamily="34" charset="0"/>
              </a:rPr>
              <a:t> – Keyboard event handling</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1800" b="1" i="0" u="none" strike="noStrike" cap="none" normalizeH="0" baseline="0" dirty="0">
                <a:ln>
                  <a:noFill/>
                </a:ln>
                <a:solidFill>
                  <a:schemeClr val="tx1"/>
                </a:solidFill>
                <a:effectLst/>
                <a:latin typeface="Arial" panose="020B0604020202020204" pitchFamily="34" charset="0"/>
              </a:rPr>
              <a:t>Virtual Environment (</a:t>
            </a:r>
            <a:r>
              <a:rPr kumimoji="0" lang="en-US" altLang="en-US" sz="1800" b="1" i="0" u="none" strike="noStrike" cap="none" normalizeH="0" baseline="0" dirty="0" err="1">
                <a:ln>
                  <a:noFill/>
                </a:ln>
                <a:solidFill>
                  <a:schemeClr val="tx1"/>
                </a:solidFill>
                <a:effectLst/>
                <a:latin typeface="Arial" panose="020B0604020202020204" pitchFamily="34" charset="0"/>
              </a:rPr>
              <a:t>venv</a:t>
            </a: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 Dependency isolation</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1800" b="1" i="0" u="none" strike="noStrike" cap="none" normalizeH="0" baseline="0" dirty="0">
                <a:ln>
                  <a:noFill/>
                </a:ln>
                <a:solidFill>
                  <a:schemeClr val="tx1"/>
                </a:solidFill>
                <a:effectLst/>
                <a:latin typeface="Arial" panose="020B0604020202020204" pitchFamily="34" charset="0"/>
              </a:rPr>
              <a:t>JSON &amp; Text Files</a:t>
            </a:r>
            <a:r>
              <a:rPr kumimoji="0" lang="en-US" altLang="en-US" sz="1800" b="0" i="0" u="none" strike="noStrike" cap="none" normalizeH="0" baseline="0" dirty="0">
                <a:ln>
                  <a:noFill/>
                </a:ln>
                <a:solidFill>
                  <a:schemeClr val="tx1"/>
                </a:solidFill>
                <a:effectLst/>
                <a:latin typeface="Arial" panose="020B0604020202020204" pitchFamily="34" charset="0"/>
              </a:rPr>
              <a:t> – Data storage formats</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pic>
        <p:nvPicPr>
          <p:cNvPr id="11" name="Picture 10" descr="A screenshot of a computer&#10;&#10;AI-generated content may be incorrect.">
            <a:extLst>
              <a:ext uri="{FF2B5EF4-FFF2-40B4-BE49-F238E27FC236}">
                <a16:creationId xmlns:a16="http://schemas.microsoft.com/office/drawing/2014/main" id="{6729A61F-90C5-CD02-818A-4F49D1106560}"/>
              </a:ext>
            </a:extLst>
          </p:cNvPr>
          <p:cNvPicPr>
            <a:picLocks noChangeAspect="1"/>
          </p:cNvPicPr>
          <p:nvPr/>
        </p:nvPicPr>
        <p:blipFill>
          <a:blip r:embed="rId4"/>
          <a:stretch>
            <a:fillRect/>
          </a:stretch>
        </p:blipFill>
        <p:spPr>
          <a:xfrm>
            <a:off x="422959" y="1414919"/>
            <a:ext cx="7688239" cy="4322524"/>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9225738-30E3-E24A-9120-0D14FA023110}"/>
              </a:ext>
            </a:extLst>
          </p:cNvPr>
          <p:cNvPicPr>
            <a:picLocks noChangeAspect="1"/>
          </p:cNvPicPr>
          <p:nvPr/>
        </p:nvPicPr>
        <p:blipFill>
          <a:blip r:embed="rId2"/>
          <a:stretch>
            <a:fillRect/>
          </a:stretch>
        </p:blipFill>
        <p:spPr>
          <a:xfrm>
            <a:off x="586000" y="573437"/>
            <a:ext cx="8583830" cy="4826048"/>
          </a:xfrm>
          <a:prstGeom prst="rect">
            <a:avLst/>
          </a:prstGeom>
        </p:spPr>
      </p:pic>
    </p:spTree>
    <p:extLst>
      <p:ext uri="{BB962C8B-B14F-4D97-AF65-F5344CB8AC3E}">
        <p14:creationId xmlns:p14="http://schemas.microsoft.com/office/powerpoint/2010/main" val="39705413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588</TotalTime>
  <Words>241</Words>
  <Application>Microsoft Office PowerPoint</Application>
  <PresentationFormat>Widescreen</PresentationFormat>
  <Paragraphs>23</Paragraphs>
  <Slides>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Trebuchet MS</vt:lpstr>
      <vt:lpstr>Wingdings</vt:lpstr>
      <vt:lpstr>Wingdings 3</vt:lpstr>
      <vt:lpstr>Facet</vt:lpstr>
      <vt:lpstr>Project Title – Keystroke Logging Demonstration</vt:lpstr>
      <vt:lpstr>PROBLEM  STATEMENT</vt:lpstr>
      <vt:lpstr>Project Description  </vt:lpstr>
      <vt:lpstr>WHO ARE THE END USERS?</vt:lpstr>
      <vt:lpstr>Technology Used</vt:lpstr>
      <vt:lpstr>RESULTS </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Shreyas Vanage</cp:lastModifiedBy>
  <cp:revision>74</cp:revision>
  <dcterms:created xsi:type="dcterms:W3CDTF">2021-07-11T13:13:15Z</dcterms:created>
  <dcterms:modified xsi:type="dcterms:W3CDTF">2025-12-28T14:16:11Z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